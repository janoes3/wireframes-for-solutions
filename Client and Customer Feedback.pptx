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sldIdLst>
    <p:sldId id="338" r:id="rId2"/>
    <p:sldId id="354" r:id="rId3"/>
    <p:sldId id="342" r:id="rId4"/>
    <p:sldId id="343" r:id="rId5"/>
    <p:sldId id="358" r:id="rId6"/>
    <p:sldId id="359" r:id="rId7"/>
    <p:sldId id="344" r:id="rId8"/>
    <p:sldId id="360" r:id="rId9"/>
    <p:sldId id="361" r:id="rId10"/>
    <p:sldId id="345" r:id="rId11"/>
    <p:sldId id="356" r:id="rId12"/>
    <p:sldId id="357" r:id="rId13"/>
    <p:sldId id="353" r:id="rId14"/>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07" autoAdjust="0"/>
    <p:restoredTop sz="94660"/>
  </p:normalViewPr>
  <p:slideViewPr>
    <p:cSldViewPr snapToGrid="0">
      <p:cViewPr varScale="1">
        <p:scale>
          <a:sx n="108" d="100"/>
          <a:sy n="108" d="100"/>
        </p:scale>
        <p:origin x="10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78670B-CF0A-4F11-88C6-84628CC17148}" type="datetimeFigureOut">
              <a:rPr lang="en-GB" smtClean="0"/>
              <a:t>15/11/2024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85675202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78670B-CF0A-4F11-88C6-84628CC17148}" type="datetimeFigureOut">
              <a:rPr lang="en-GB" smtClean="0"/>
              <a:t>15/11/2024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1694572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78670B-CF0A-4F11-88C6-84628CC17148}" type="datetimeFigureOut">
              <a:rPr lang="en-GB" smtClean="0"/>
              <a:t>15/11/2024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149640079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2760952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78670B-CF0A-4F11-88C6-84628CC17148}" type="datetimeFigureOut">
              <a:rPr lang="en-GB" smtClean="0"/>
              <a:t>15/11/2024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1228718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78670B-CF0A-4F11-88C6-84628CC17148}" type="datetimeFigureOut">
              <a:rPr lang="en-GB" smtClean="0"/>
              <a:t>15/11/2024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1653733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8670B-CF0A-4F11-88C6-84628CC17148}" type="datetimeFigureOut">
              <a:rPr lang="en-GB" smtClean="0"/>
              <a:t>15/11/2024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215729027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418796135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279763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571463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33962932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0223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678670B-CF0A-4F11-88C6-84628CC17148}" type="datetimeFigureOut">
              <a:rPr lang="en-GB" smtClean="0"/>
              <a:t>15/11/2024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3895822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78670B-CF0A-4F11-88C6-84628CC17148}" type="datetimeFigureOut">
              <a:rPr lang="en-GB" smtClean="0"/>
              <a:t>15/11/2024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5373688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678670B-CF0A-4F11-88C6-84628CC17148}" type="datetimeFigureOut">
              <a:rPr lang="en-GB" smtClean="0"/>
              <a:t>15/11/2024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3274901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78670B-CF0A-4F11-88C6-84628CC17148}" type="datetimeFigureOut">
              <a:rPr lang="en-GB" smtClean="0"/>
              <a:t>15/11/2024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1099101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78670B-CF0A-4F11-88C6-84628CC17148}" type="datetimeFigureOut">
              <a:rPr lang="en-GB" smtClean="0"/>
              <a:t>15/11/2024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04FE8B4-AA9B-4FD1-898D-9BDAB2E609EC}" type="slidenum">
              <a:rPr lang="en-GB" smtClean="0"/>
              <a:t>‹#›</a:t>
            </a:fld>
            <a:endParaRPr lang="en-GB"/>
          </a:p>
        </p:txBody>
      </p:sp>
    </p:spTree>
    <p:extLst>
      <p:ext uri="{BB962C8B-B14F-4D97-AF65-F5344CB8AC3E}">
        <p14:creationId xmlns:p14="http://schemas.microsoft.com/office/powerpoint/2010/main" val="15264839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678670B-CF0A-4F11-88C6-84628CC17148}" type="datetimeFigureOut">
              <a:rPr lang="en-GB" smtClean="0"/>
              <a:t>15/11/2024</a:t>
            </a:fld>
            <a:endParaRPr lang="en-GB"/>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04FE8B4-AA9B-4FD1-898D-9BDAB2E609EC}" type="slidenum">
              <a:rPr lang="en-GB" smtClean="0"/>
              <a:t>‹#›</a:t>
            </a:fld>
            <a:endParaRPr lang="en-GB"/>
          </a:p>
        </p:txBody>
      </p:sp>
    </p:spTree>
    <p:extLst>
      <p:ext uri="{BB962C8B-B14F-4D97-AF65-F5344CB8AC3E}">
        <p14:creationId xmlns:p14="http://schemas.microsoft.com/office/powerpoint/2010/main" val="229872183"/>
      </p:ext>
    </p:extLst>
  </p:cSld>
  <p:clrMap bg1="dk1" tx1="lt1" bg2="dk2" tx2="lt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6" y="119743"/>
            <a:ext cx="10353761" cy="1326321"/>
          </a:xfrm>
        </p:spPr>
        <p:txBody>
          <a:bodyPr/>
          <a:lstStyle/>
          <a:p>
            <a:r>
              <a:rPr lang="en-US" sz="3600" dirty="0">
                <a:latin typeface="Calibri" panose="020F0502020204030204" pitchFamily="34" charset="0"/>
              </a:rPr>
              <a:t>Meets the needs of the clients and users</a:t>
            </a:r>
            <a:endParaRPr lang="en-GB" dirty="0"/>
          </a:p>
        </p:txBody>
      </p:sp>
      <p:sp>
        <p:nvSpPr>
          <p:cNvPr id="3" name="Content Placeholder 2"/>
          <p:cNvSpPr>
            <a:spLocks noGrp="1"/>
          </p:cNvSpPr>
          <p:nvPr>
            <p:ph idx="1"/>
          </p:nvPr>
        </p:nvSpPr>
        <p:spPr>
          <a:xfrm>
            <a:off x="913795" y="1186543"/>
            <a:ext cx="10353762" cy="5508171"/>
          </a:xfrm>
        </p:spPr>
        <p:txBody>
          <a:bodyPr>
            <a:normAutofit/>
          </a:bodyPr>
          <a:lstStyle/>
          <a:p>
            <a:pPr marL="457200" indent="-457200">
              <a:buFont typeface="+mj-lt"/>
              <a:buAutoNum type="arabicPeriod"/>
            </a:pPr>
            <a:r>
              <a:rPr lang="en-GB" sz="2400" b="1" dirty="0">
                <a:solidFill>
                  <a:srgbClr val="92D050"/>
                </a:solidFill>
                <a:latin typeface="Calibri" panose="020F0502020204030204" pitchFamily="34" charset="0"/>
              </a:rPr>
              <a:t>What are the client needs ?</a:t>
            </a:r>
          </a:p>
          <a:p>
            <a:pPr lvl="1"/>
            <a:r>
              <a:rPr lang="en-GB" sz="2000" b="1" dirty="0">
                <a:solidFill>
                  <a:srgbClr val="92D050"/>
                </a:solidFill>
                <a:latin typeface="Calibri" panose="020F0502020204030204" pitchFamily="34" charset="0"/>
              </a:rPr>
              <a:t>To meet client needs :</a:t>
            </a:r>
          </a:p>
          <a:p>
            <a:pPr lvl="1"/>
            <a:r>
              <a:rPr lang="en-GB" sz="2000" b="1" dirty="0">
                <a:solidFill>
                  <a:srgbClr val="92D050"/>
                </a:solidFill>
                <a:latin typeface="Calibri" panose="020F0502020204030204" pitchFamily="34" charset="0"/>
              </a:rPr>
              <a:t>Look at the objectives and key features: </a:t>
            </a:r>
            <a:r>
              <a:rPr lang="en-GB" sz="2000" dirty="0">
                <a:latin typeface="Calibri" panose="020F0502020204030204" pitchFamily="34" charset="0"/>
              </a:rPr>
              <a:t>Summarise the key business objectives from the scenario in your own words.  Make sure you understand and identify </a:t>
            </a:r>
            <a:r>
              <a:rPr lang="en-GB" sz="2000" dirty="0" err="1">
                <a:latin typeface="Calibri" panose="020F0502020204030204" pitchFamily="34" charset="0"/>
              </a:rPr>
              <a:t>MediHealth's</a:t>
            </a:r>
            <a:r>
              <a:rPr lang="en-GB" sz="2000" dirty="0">
                <a:latin typeface="Calibri" panose="020F0502020204030204" pitchFamily="34" charset="0"/>
              </a:rPr>
              <a:t> goals clearly: </a:t>
            </a:r>
          </a:p>
          <a:p>
            <a:pPr lvl="2"/>
            <a:r>
              <a:rPr lang="en-GB" sz="1800" dirty="0">
                <a:latin typeface="Calibri" panose="020F0502020204030204" pitchFamily="34" charset="0"/>
              </a:rPr>
              <a:t>simplifying appointment scheduling</a:t>
            </a:r>
          </a:p>
          <a:p>
            <a:pPr lvl="2"/>
            <a:r>
              <a:rPr lang="en-GB" sz="1800" dirty="0">
                <a:latin typeface="Calibri" panose="020F0502020204030204" pitchFamily="34" charset="0"/>
              </a:rPr>
              <a:t>providing interactive health tips</a:t>
            </a:r>
          </a:p>
          <a:p>
            <a:pPr lvl="2"/>
            <a:r>
              <a:rPr lang="en-GB" sz="1800" dirty="0">
                <a:latin typeface="Calibri" panose="020F0502020204030204" pitchFamily="34" charset="0"/>
              </a:rPr>
              <a:t>enhancing the user experience. </a:t>
            </a:r>
          </a:p>
          <a:p>
            <a:pPr lvl="1"/>
            <a:r>
              <a:rPr lang="en-GB" sz="2000" dirty="0">
                <a:latin typeface="Calibri" panose="020F0502020204030204" pitchFamily="34" charset="0"/>
              </a:rPr>
              <a:t>These are </a:t>
            </a:r>
            <a:r>
              <a:rPr lang="en-GB" sz="2000" dirty="0" err="1">
                <a:latin typeface="Calibri" panose="020F0502020204030204" pitchFamily="34" charset="0"/>
              </a:rPr>
              <a:t>MediHealth's</a:t>
            </a:r>
            <a:r>
              <a:rPr lang="en-GB" sz="2000" dirty="0">
                <a:latin typeface="Calibri" panose="020F0502020204030204" pitchFamily="34" charset="0"/>
              </a:rPr>
              <a:t> stated goals, and any solutions you propose must directly address them.</a:t>
            </a:r>
          </a:p>
          <a:p>
            <a:pPr lvl="1"/>
            <a:endParaRPr lang="en-GB" sz="2000" dirty="0">
              <a:latin typeface="Calibri" panose="020F0502020204030204" pitchFamily="34" charset="0"/>
            </a:endParaRPr>
          </a:p>
        </p:txBody>
      </p:sp>
      <p:sp>
        <p:nvSpPr>
          <p:cNvPr id="4"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User's Perspective</a:t>
            </a:r>
            <a:r>
              <a:rPr kumimoji="0" lang="en-US" altLang="en-US" sz="1800" b="0" i="0" u="none" strike="noStrike" cap="none" normalizeH="0" baseline="0">
                <a:ln>
                  <a:noFill/>
                </a:ln>
                <a:solidFill>
                  <a:schemeClr val="tx1"/>
                </a:solidFill>
                <a:effectLst/>
                <a:latin typeface="Arial" panose="020B0604020202020204" pitchFamily="34" charset="0"/>
              </a:rPr>
              <a:t>: Users need to find the service they need quickly, without confusion.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529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913795" y="2096063"/>
            <a:ext cx="10353762" cy="4533337"/>
          </a:xfrm>
        </p:spPr>
        <p:txBody>
          <a:bodyPr>
            <a:normAutofit/>
          </a:bodyPr>
          <a:lstStyle/>
          <a:p>
            <a:pPr marL="457200" indent="-457200">
              <a:buFont typeface="+mj-lt"/>
              <a:buAutoNum type="arabicPeriod" startAt="2"/>
            </a:pPr>
            <a:r>
              <a:rPr lang="en-GB" sz="2400" b="1" dirty="0">
                <a:solidFill>
                  <a:srgbClr val="92D050"/>
                </a:solidFill>
                <a:latin typeface="Calibri" panose="020F0502020204030204" pitchFamily="34" charset="0"/>
              </a:rPr>
              <a:t>What are the user needs ?</a:t>
            </a:r>
          </a:p>
          <a:p>
            <a:pPr lvl="1"/>
            <a:r>
              <a:rPr lang="en-GB" sz="2000" dirty="0">
                <a:latin typeface="Calibri" panose="020F0502020204030204" pitchFamily="34" charset="0"/>
              </a:rPr>
              <a:t>They want a simply appointment scheduling system, they also want specific health tips which relates to their health and by having a simple and easy system to navigate it would enhance their user experience. </a:t>
            </a:r>
          </a:p>
          <a:p>
            <a:pPr lvl="1"/>
            <a:r>
              <a:rPr lang="en-GB" sz="2000" b="1" dirty="0">
                <a:solidFill>
                  <a:srgbClr val="92D050"/>
                </a:solidFill>
                <a:latin typeface="Calibri" panose="020F0502020204030204" pitchFamily="34" charset="0"/>
              </a:rPr>
              <a:t>Can you identify the different user types who might use the platform: </a:t>
            </a:r>
          </a:p>
          <a:p>
            <a:pPr lvl="2"/>
            <a:r>
              <a:rPr lang="en-GB" sz="1800" dirty="0">
                <a:latin typeface="Calibri" panose="020F0502020204030204" pitchFamily="34" charset="0"/>
              </a:rPr>
              <a:t>patients of various age groups (elderly patients)</a:t>
            </a:r>
          </a:p>
          <a:p>
            <a:pPr lvl="2"/>
            <a:r>
              <a:rPr lang="en-GB" sz="1800" dirty="0">
                <a:latin typeface="Calibri" panose="020F0502020204030204" pitchFamily="34" charset="0"/>
              </a:rPr>
              <a:t>people with different levels of technical knowledge</a:t>
            </a:r>
          </a:p>
          <a:p>
            <a:pPr lvl="2"/>
            <a:r>
              <a:rPr lang="en-GB" sz="1800" dirty="0">
                <a:latin typeface="Calibri" panose="020F0502020204030204" pitchFamily="34" charset="0"/>
              </a:rPr>
              <a:t>busy professionals</a:t>
            </a:r>
          </a:p>
          <a:p>
            <a:pPr lvl="2"/>
            <a:r>
              <a:rPr lang="en-GB" sz="1800" dirty="0">
                <a:latin typeface="Calibri" panose="020F0502020204030204" pitchFamily="34" charset="0"/>
              </a:rPr>
              <a:t>first time users etc. Think about their expectations.</a:t>
            </a:r>
          </a:p>
          <a:p>
            <a:pPr lvl="1"/>
            <a:r>
              <a:rPr lang="en-GB" sz="2000" b="1" dirty="0">
                <a:latin typeface="Calibri" panose="020F0502020204030204" pitchFamily="34" charset="0"/>
              </a:rPr>
              <a:t>Example</a:t>
            </a:r>
            <a:r>
              <a:rPr lang="en-GB" sz="2000" dirty="0">
                <a:latin typeface="Calibri" panose="020F0502020204030204" pitchFamily="34" charset="0"/>
              </a:rPr>
              <a:t>: An elderly user might struggle with a complex online booking process, while a younger, tech-savvy user may expect a quick, mobile-friendly experience.</a:t>
            </a:r>
          </a:p>
          <a:p>
            <a:endParaRPr lang="en-GB" dirty="0"/>
          </a:p>
        </p:txBody>
      </p:sp>
    </p:spTree>
    <p:extLst>
      <p:ext uri="{BB962C8B-B14F-4D97-AF65-F5344CB8AC3E}">
        <p14:creationId xmlns:p14="http://schemas.microsoft.com/office/powerpoint/2010/main" val="306143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908" y="97972"/>
            <a:ext cx="11125805" cy="6585859"/>
          </a:xfrm>
        </p:spPr>
        <p:txBody>
          <a:bodyPr>
            <a:noAutofit/>
          </a:bodyPr>
          <a:lstStyle/>
          <a:p>
            <a:pPr marL="457200" indent="-457200">
              <a:buFont typeface="+mj-lt"/>
              <a:buAutoNum type="arabicPeriod" startAt="3"/>
            </a:pPr>
            <a:r>
              <a:rPr lang="en-GB" sz="2400" b="1" dirty="0">
                <a:solidFill>
                  <a:srgbClr val="92D050"/>
                </a:solidFill>
                <a:latin typeface="Calibri" panose="020F0502020204030204" pitchFamily="34" charset="0"/>
              </a:rPr>
              <a:t>Match Solutions to Needs: </a:t>
            </a:r>
            <a:r>
              <a:rPr lang="en-GB" dirty="0">
                <a:latin typeface="Calibri" panose="020F0502020204030204" pitchFamily="34" charset="0"/>
              </a:rPr>
              <a:t>Find </a:t>
            </a:r>
            <a:r>
              <a:rPr lang="en-GB" sz="2000" dirty="0">
                <a:latin typeface="Calibri" panose="020F0502020204030204" pitchFamily="34" charset="0"/>
              </a:rPr>
              <a:t>solutions to the client's objectives and the users' needs.</a:t>
            </a:r>
          </a:p>
          <a:p>
            <a:pPr lvl="1"/>
            <a:r>
              <a:rPr lang="en-GB" sz="2000" b="1" dirty="0">
                <a:solidFill>
                  <a:srgbClr val="92D050"/>
                </a:solidFill>
                <a:latin typeface="Calibri" panose="020F0502020204030204" pitchFamily="34" charset="0"/>
              </a:rPr>
              <a:t>Simplify Appointment Scheduling: </a:t>
            </a:r>
          </a:p>
          <a:p>
            <a:pPr lvl="2"/>
            <a:r>
              <a:rPr lang="en-GB" sz="1800" b="1" dirty="0">
                <a:solidFill>
                  <a:srgbClr val="92D050"/>
                </a:solidFill>
                <a:latin typeface="Calibri" panose="020F0502020204030204" pitchFamily="34" charset="0"/>
              </a:rPr>
              <a:t>Client Objectives:- </a:t>
            </a:r>
            <a:r>
              <a:rPr lang="en-GB" sz="1800" dirty="0" err="1">
                <a:latin typeface="Calibri" panose="020F0502020204030204" pitchFamily="34" charset="0"/>
              </a:rPr>
              <a:t>MediHealth</a:t>
            </a:r>
            <a:r>
              <a:rPr lang="en-GB" sz="1800" dirty="0">
                <a:latin typeface="Calibri" panose="020F0502020204030204" pitchFamily="34" charset="0"/>
              </a:rPr>
              <a:t> wants easier appointment management</a:t>
            </a:r>
          </a:p>
          <a:p>
            <a:pPr lvl="2"/>
            <a:r>
              <a:rPr lang="en-GB" sz="1800" b="1" dirty="0">
                <a:solidFill>
                  <a:srgbClr val="92D050"/>
                </a:solidFill>
                <a:latin typeface="Calibri" panose="020F0502020204030204" pitchFamily="34" charset="0"/>
              </a:rPr>
              <a:t>User's Needs</a:t>
            </a:r>
            <a:r>
              <a:rPr lang="en-GB" sz="1800" dirty="0">
                <a:solidFill>
                  <a:srgbClr val="92D050"/>
                </a:solidFill>
                <a:latin typeface="Calibri" panose="020F0502020204030204" pitchFamily="34" charset="0"/>
              </a:rPr>
              <a:t>: </a:t>
            </a:r>
            <a:r>
              <a:rPr lang="en-GB" sz="1800" dirty="0">
                <a:latin typeface="Calibri" panose="020F0502020204030204" pitchFamily="34" charset="0"/>
              </a:rPr>
              <a:t>Users want a quick, hassle-free experience, especially if they have time-sensitive health issues or are not tech-savvy.</a:t>
            </a:r>
          </a:p>
          <a:p>
            <a:pPr lvl="2"/>
            <a:r>
              <a:rPr lang="en-GB" sz="1800" b="1" dirty="0">
                <a:solidFill>
                  <a:srgbClr val="92D050"/>
                </a:solidFill>
                <a:latin typeface="Calibri" panose="020F0502020204030204" pitchFamily="34" charset="0"/>
              </a:rPr>
              <a:t>Proposed Solution</a:t>
            </a:r>
            <a:r>
              <a:rPr lang="en-GB" sz="1800" dirty="0">
                <a:solidFill>
                  <a:srgbClr val="92D050"/>
                </a:solidFill>
                <a:latin typeface="Calibri" panose="020F0502020204030204" pitchFamily="34" charset="0"/>
              </a:rPr>
              <a:t>: </a:t>
            </a:r>
            <a:r>
              <a:rPr lang="en-GB" sz="1800" dirty="0">
                <a:latin typeface="Calibri" panose="020F0502020204030204" pitchFamily="34" charset="0"/>
              </a:rPr>
              <a:t>Develop a one-click appointment rescheduling system with easy-to-read buttons and confirmations.</a:t>
            </a:r>
          </a:p>
          <a:p>
            <a:pPr lvl="1"/>
            <a:r>
              <a:rPr lang="en-GB" sz="2000" b="1" dirty="0">
                <a:solidFill>
                  <a:srgbClr val="92D050"/>
                </a:solidFill>
                <a:latin typeface="Calibri" panose="020F0502020204030204" pitchFamily="34" charset="0"/>
              </a:rPr>
              <a:t>Provide Interactive Health Tips</a:t>
            </a:r>
            <a:r>
              <a:rPr lang="en-GB" sz="2000" dirty="0">
                <a:solidFill>
                  <a:srgbClr val="92D050"/>
                </a:solidFill>
                <a:latin typeface="Calibri" panose="020F0502020204030204" pitchFamily="34" charset="0"/>
              </a:rPr>
              <a:t>: </a:t>
            </a:r>
          </a:p>
          <a:p>
            <a:pPr lvl="2"/>
            <a:r>
              <a:rPr lang="en-GB" sz="1800" b="1" dirty="0">
                <a:solidFill>
                  <a:srgbClr val="92D050"/>
                </a:solidFill>
                <a:latin typeface="Calibri" panose="020F0502020204030204" pitchFamily="34" charset="0"/>
              </a:rPr>
              <a:t>Client Objectives: </a:t>
            </a:r>
            <a:r>
              <a:rPr lang="en-GB" sz="1800" dirty="0">
                <a:latin typeface="Calibri" panose="020F0502020204030204" pitchFamily="34" charset="0"/>
              </a:rPr>
              <a:t>The client wants users to engage more with health advice.</a:t>
            </a:r>
          </a:p>
          <a:p>
            <a:pPr lvl="2"/>
            <a:r>
              <a:rPr lang="en-GB" sz="1800" b="1" dirty="0">
                <a:solidFill>
                  <a:srgbClr val="92D050"/>
                </a:solidFill>
                <a:latin typeface="Calibri" panose="020F0502020204030204" pitchFamily="34" charset="0"/>
              </a:rPr>
              <a:t>User's Needs</a:t>
            </a:r>
            <a:r>
              <a:rPr lang="en-GB" sz="1800" dirty="0">
                <a:solidFill>
                  <a:srgbClr val="92D050"/>
                </a:solidFill>
                <a:latin typeface="Calibri" panose="020F0502020204030204" pitchFamily="34" charset="0"/>
              </a:rPr>
              <a:t>: </a:t>
            </a:r>
            <a:r>
              <a:rPr lang="en-GB" sz="1800" dirty="0">
                <a:latin typeface="Calibri" panose="020F0502020204030204" pitchFamily="34" charset="0"/>
              </a:rPr>
              <a:t>Users expect personalised, relevant information rather than general tips.</a:t>
            </a:r>
          </a:p>
          <a:p>
            <a:pPr lvl="2"/>
            <a:r>
              <a:rPr lang="en-GB" sz="1800" b="1" dirty="0">
                <a:solidFill>
                  <a:srgbClr val="92D050"/>
                </a:solidFill>
                <a:latin typeface="Calibri" panose="020F0502020204030204" pitchFamily="34" charset="0"/>
              </a:rPr>
              <a:t>Proposed Solution</a:t>
            </a:r>
            <a:r>
              <a:rPr lang="en-GB" sz="1800" dirty="0">
                <a:solidFill>
                  <a:srgbClr val="92D050"/>
                </a:solidFill>
                <a:latin typeface="Calibri" panose="020F0502020204030204" pitchFamily="34" charset="0"/>
              </a:rPr>
              <a:t>:</a:t>
            </a:r>
            <a:r>
              <a:rPr lang="en-GB" sz="1800" dirty="0">
                <a:latin typeface="Calibri" panose="020F0502020204030204" pitchFamily="34" charset="0"/>
              </a:rPr>
              <a:t> Create a personalised health dashboard that recommends tips based on the user's age, health conditions, or previous activity.</a:t>
            </a:r>
          </a:p>
          <a:p>
            <a:pPr lvl="1"/>
            <a:r>
              <a:rPr lang="en-GB" sz="2000" b="1" dirty="0">
                <a:solidFill>
                  <a:srgbClr val="92D050"/>
                </a:solidFill>
                <a:latin typeface="Calibri" panose="020F0502020204030204" pitchFamily="34" charset="0"/>
              </a:rPr>
              <a:t>Enhance Navigation</a:t>
            </a:r>
            <a:r>
              <a:rPr lang="en-GB" sz="2000" dirty="0">
                <a:solidFill>
                  <a:srgbClr val="92D050"/>
                </a:solidFill>
                <a:latin typeface="Calibri" panose="020F0502020204030204" pitchFamily="34" charset="0"/>
              </a:rPr>
              <a:t>:</a:t>
            </a:r>
          </a:p>
          <a:p>
            <a:pPr lvl="2"/>
            <a:r>
              <a:rPr lang="en-GB" sz="1800" b="1" dirty="0">
                <a:solidFill>
                  <a:srgbClr val="92D050"/>
                </a:solidFill>
                <a:latin typeface="Calibri" panose="020F0502020204030204" pitchFamily="34" charset="0"/>
              </a:rPr>
              <a:t>Client Objectives: </a:t>
            </a:r>
            <a:r>
              <a:rPr lang="en-GB" sz="1800" dirty="0">
                <a:solidFill>
                  <a:srgbClr val="92D050"/>
                </a:solidFill>
                <a:latin typeface="Calibri" panose="020F0502020204030204" pitchFamily="34" charset="0"/>
              </a:rPr>
              <a:t> </a:t>
            </a:r>
            <a:r>
              <a:rPr lang="en-GB" sz="1800" dirty="0">
                <a:latin typeface="Calibri" panose="020F0502020204030204" pitchFamily="34" charset="0"/>
              </a:rPr>
              <a:t>The platform should be easy to navigate</a:t>
            </a:r>
          </a:p>
          <a:p>
            <a:pPr lvl="2"/>
            <a:r>
              <a:rPr lang="en-GB" sz="1800" b="1" dirty="0">
                <a:solidFill>
                  <a:srgbClr val="92D050"/>
                </a:solidFill>
                <a:latin typeface="Calibri" panose="020F0502020204030204" pitchFamily="34" charset="0"/>
              </a:rPr>
              <a:t>User's Needs</a:t>
            </a:r>
            <a:r>
              <a:rPr lang="en-GB" sz="1800" dirty="0">
                <a:solidFill>
                  <a:srgbClr val="92D050"/>
                </a:solidFill>
                <a:latin typeface="Calibri" panose="020F0502020204030204" pitchFamily="34" charset="0"/>
              </a:rPr>
              <a:t>: </a:t>
            </a:r>
            <a:r>
              <a:rPr lang="en-GB" sz="1800" dirty="0">
                <a:latin typeface="Calibri" panose="020F0502020204030204" pitchFamily="34" charset="0"/>
              </a:rPr>
              <a:t>Users need to find the service they need quickly, without confusion</a:t>
            </a:r>
          </a:p>
          <a:p>
            <a:pPr lvl="2"/>
            <a:r>
              <a:rPr lang="en-GB" sz="1800" b="1" dirty="0">
                <a:solidFill>
                  <a:srgbClr val="92D050"/>
                </a:solidFill>
                <a:latin typeface="Calibri" panose="020F0502020204030204" pitchFamily="34" charset="0"/>
              </a:rPr>
              <a:t>Proposed Solution</a:t>
            </a:r>
            <a:r>
              <a:rPr lang="en-GB" sz="1800" dirty="0">
                <a:solidFill>
                  <a:srgbClr val="92D050"/>
                </a:solidFill>
                <a:latin typeface="Calibri" panose="020F0502020204030204" pitchFamily="34" charset="0"/>
              </a:rPr>
              <a:t>: </a:t>
            </a:r>
            <a:r>
              <a:rPr lang="en-GB" sz="1800" dirty="0">
                <a:latin typeface="Calibri" panose="020F0502020204030204" pitchFamily="34" charset="0"/>
              </a:rPr>
              <a:t>Produce and create a clear, simplified menu and search functionality that helps users locate services like "Health Tips" or "Appointment Booking" immediately.</a:t>
            </a:r>
          </a:p>
          <a:p>
            <a:endParaRPr lang="en-GB" dirty="0">
              <a:latin typeface="Calibri" panose="020F0502020204030204" pitchFamily="34" charset="0"/>
            </a:endParaRPr>
          </a:p>
        </p:txBody>
      </p:sp>
    </p:spTree>
    <p:extLst>
      <p:ext uri="{BB962C8B-B14F-4D97-AF65-F5344CB8AC3E}">
        <p14:creationId xmlns:p14="http://schemas.microsoft.com/office/powerpoint/2010/main" val="267560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4" y="881743"/>
            <a:ext cx="10918977" cy="5758543"/>
          </a:xfrm>
        </p:spPr>
        <p:txBody>
          <a:bodyPr>
            <a:normAutofit/>
          </a:bodyPr>
          <a:lstStyle/>
          <a:p>
            <a:pPr marL="457200" indent="-457200">
              <a:buFont typeface="+mj-lt"/>
              <a:buAutoNum type="arabicPeriod" startAt="4"/>
            </a:pPr>
            <a:r>
              <a:rPr lang="en-GB" sz="2800" b="1" dirty="0">
                <a:solidFill>
                  <a:srgbClr val="92D050"/>
                </a:solidFill>
                <a:latin typeface="Calibri" panose="020F0502020204030204" pitchFamily="34" charset="0"/>
                <a:cs typeface="Calibri" panose="020F0502020204030204" pitchFamily="34" charset="0"/>
              </a:rPr>
              <a:t>Prototype and Get Feedback:</a:t>
            </a:r>
          </a:p>
          <a:p>
            <a:pPr lvl="1"/>
            <a:r>
              <a:rPr lang="en-GB" sz="2400" dirty="0">
                <a:latin typeface="Calibri" panose="020F0502020204030204" pitchFamily="34" charset="0"/>
                <a:cs typeface="Calibri" panose="020F0502020204030204" pitchFamily="34" charset="0"/>
              </a:rPr>
              <a:t>To meet the needs of the client and user:</a:t>
            </a:r>
          </a:p>
          <a:p>
            <a:pPr lvl="2"/>
            <a:r>
              <a:rPr lang="en-GB" sz="2200" dirty="0">
                <a:latin typeface="Calibri" panose="020F0502020204030204" pitchFamily="34" charset="0"/>
                <a:cs typeface="Calibri" panose="020F0502020204030204" pitchFamily="34" charset="0"/>
              </a:rPr>
              <a:t>A prototype could be created and developed. </a:t>
            </a:r>
          </a:p>
          <a:p>
            <a:pPr lvl="2"/>
            <a:r>
              <a:rPr lang="en-GB" sz="2200" dirty="0">
                <a:latin typeface="Calibri" panose="020F0502020204030204" pitchFamily="34" charset="0"/>
                <a:cs typeface="Calibri" panose="020F0502020204030204" pitchFamily="34" charset="0"/>
              </a:rPr>
              <a:t>The prototype will need to be tested using real users.</a:t>
            </a:r>
          </a:p>
          <a:p>
            <a:pPr lvl="2"/>
            <a:r>
              <a:rPr lang="en-GB" sz="2200" dirty="0">
                <a:latin typeface="Calibri" panose="020F0502020204030204" pitchFamily="34" charset="0"/>
                <a:cs typeface="Calibri" panose="020F0502020204030204" pitchFamily="34" charset="0"/>
              </a:rPr>
              <a:t>Relevant feedback will need to be gathered from the users. </a:t>
            </a:r>
          </a:p>
          <a:p>
            <a:pPr lvl="2"/>
            <a:r>
              <a:rPr lang="en-GB" sz="2200" dirty="0">
                <a:latin typeface="Calibri" panose="020F0502020204030204" pitchFamily="34" charset="0"/>
                <a:cs typeface="Calibri" panose="020F0502020204030204" pitchFamily="34" charset="0"/>
              </a:rPr>
              <a:t>Using the feedback from the users, improvements should be continually made to ensure that the product meets users' needs effectively.</a:t>
            </a:r>
          </a:p>
          <a:p>
            <a:endParaRPr lang="en-GB" sz="11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56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BEC02-E68D-EA1C-38A5-6C4631F847D5}"/>
              </a:ext>
            </a:extLst>
          </p:cNvPr>
          <p:cNvSpPr>
            <a:spLocks noGrp="1"/>
          </p:cNvSpPr>
          <p:nvPr>
            <p:ph type="title"/>
          </p:nvPr>
        </p:nvSpPr>
        <p:spPr>
          <a:xfrm>
            <a:off x="913795" y="102094"/>
            <a:ext cx="10353761" cy="785674"/>
          </a:xfrm>
        </p:spPr>
        <p:txBody>
          <a:bodyPr>
            <a:normAutofit/>
          </a:bodyPr>
          <a:lstStyle/>
          <a:p>
            <a:r>
              <a:rPr lang="en-GB" dirty="0">
                <a:effectLst/>
                <a:latin typeface="-apple-system"/>
              </a:rPr>
              <a:t>Key Considerations for Different User Types:</a:t>
            </a:r>
            <a:endParaRPr lang="en-GB" dirty="0"/>
          </a:p>
        </p:txBody>
      </p:sp>
      <p:sp>
        <p:nvSpPr>
          <p:cNvPr id="3" name="Content Placeholder 2">
            <a:extLst>
              <a:ext uri="{FF2B5EF4-FFF2-40B4-BE49-F238E27FC236}">
                <a16:creationId xmlns:a16="http://schemas.microsoft.com/office/drawing/2014/main" id="{86843130-1D3A-D0E7-A018-3CD93A38ABCE}"/>
              </a:ext>
            </a:extLst>
          </p:cNvPr>
          <p:cNvSpPr>
            <a:spLocks noGrp="1"/>
          </p:cNvSpPr>
          <p:nvPr>
            <p:ph idx="1"/>
          </p:nvPr>
        </p:nvSpPr>
        <p:spPr>
          <a:xfrm>
            <a:off x="913795" y="1127464"/>
            <a:ext cx="10353762" cy="5628443"/>
          </a:xfrm>
        </p:spPr>
        <p:txBody>
          <a:bodyPr>
            <a:normAutofit fontScale="85000" lnSpcReduction="20000"/>
          </a:bodyPr>
          <a:lstStyle/>
          <a:p>
            <a:pPr algn="l">
              <a:buFont typeface="+mj-lt"/>
              <a:buAutoNum type="arabicPeriod"/>
            </a:pPr>
            <a:r>
              <a:rPr lang="en-GB" b="1" i="0" dirty="0">
                <a:effectLst/>
                <a:latin typeface="-apple-system"/>
              </a:rPr>
              <a:t>Elderly Users:</a:t>
            </a:r>
            <a:endParaRPr lang="en-GB" b="0" i="0" dirty="0">
              <a:effectLst/>
              <a:latin typeface="-apple-system"/>
            </a:endParaRPr>
          </a:p>
          <a:p>
            <a:pPr marL="742950" lvl="1" indent="-285750" algn="l">
              <a:buFont typeface="+mj-lt"/>
              <a:buAutoNum type="arabicPeriod"/>
            </a:pPr>
            <a:r>
              <a:rPr lang="en-GB" b="1" i="0" dirty="0">
                <a:effectLst/>
                <a:latin typeface="-apple-system"/>
              </a:rPr>
              <a:t>Font Size and Clarity:</a:t>
            </a:r>
            <a:r>
              <a:rPr lang="en-GB" b="0" i="0" dirty="0">
                <a:effectLst/>
                <a:latin typeface="-apple-system"/>
              </a:rPr>
              <a:t> Ensure text is large and clear enough to read.</a:t>
            </a:r>
          </a:p>
          <a:p>
            <a:pPr marL="742950" lvl="1" indent="-285750" algn="l">
              <a:buFont typeface="+mj-lt"/>
              <a:buAutoNum type="arabicPeriod"/>
            </a:pPr>
            <a:r>
              <a:rPr lang="en-GB" b="1" i="0" dirty="0">
                <a:effectLst/>
                <a:latin typeface="-apple-system"/>
              </a:rPr>
              <a:t>Simple Navigation:</a:t>
            </a:r>
            <a:r>
              <a:rPr lang="en-GB" b="0" i="0" dirty="0">
                <a:effectLst/>
                <a:latin typeface="-apple-system"/>
              </a:rPr>
              <a:t> Use straightforward and easy navigation with minimal steps.</a:t>
            </a:r>
          </a:p>
          <a:p>
            <a:pPr marL="742950" lvl="1" indent="-285750" algn="l">
              <a:buFont typeface="+mj-lt"/>
              <a:buAutoNum type="arabicPeriod"/>
            </a:pPr>
            <a:r>
              <a:rPr lang="en-GB" b="1" i="0" dirty="0">
                <a:effectLst/>
                <a:latin typeface="-apple-system"/>
              </a:rPr>
              <a:t>Contrast and Colours:</a:t>
            </a:r>
            <a:r>
              <a:rPr lang="en-GB" b="0" i="0" dirty="0">
                <a:effectLst/>
                <a:latin typeface="-apple-system"/>
              </a:rPr>
              <a:t> High contrast between text and background to aid visibility.</a:t>
            </a:r>
          </a:p>
          <a:p>
            <a:pPr marL="742950" lvl="1" indent="-285750" algn="l">
              <a:buFont typeface="+mj-lt"/>
              <a:buAutoNum type="arabicPeriod"/>
            </a:pPr>
            <a:r>
              <a:rPr lang="en-GB" b="1" i="0" dirty="0">
                <a:effectLst/>
                <a:latin typeface="-apple-system"/>
              </a:rPr>
              <a:t>Help and Support:</a:t>
            </a:r>
            <a:r>
              <a:rPr lang="en-GB" b="0" i="0" dirty="0">
                <a:effectLst/>
                <a:latin typeface="-apple-system"/>
              </a:rPr>
              <a:t> Easily accessible help options or tooltips.</a:t>
            </a:r>
          </a:p>
          <a:p>
            <a:pPr algn="l">
              <a:buFont typeface="+mj-lt"/>
              <a:buAutoNum type="arabicPeriod"/>
            </a:pPr>
            <a:r>
              <a:rPr lang="en-GB" b="1" i="0" dirty="0">
                <a:effectLst/>
                <a:latin typeface="-apple-system"/>
              </a:rPr>
              <a:t>Young, Busy Professionals:</a:t>
            </a:r>
            <a:endParaRPr lang="en-GB" b="0" i="0" dirty="0">
              <a:effectLst/>
              <a:latin typeface="-apple-system"/>
            </a:endParaRPr>
          </a:p>
          <a:p>
            <a:pPr marL="742950" lvl="1" indent="-285750" algn="l">
              <a:buFont typeface="+mj-lt"/>
              <a:buAutoNum type="arabicPeriod"/>
            </a:pPr>
            <a:r>
              <a:rPr lang="en-GB" b="1" i="0" dirty="0">
                <a:effectLst/>
                <a:latin typeface="-apple-system"/>
              </a:rPr>
              <a:t>Quick Access:</a:t>
            </a:r>
            <a:r>
              <a:rPr lang="en-GB" b="0" i="0" dirty="0">
                <a:effectLst/>
                <a:latin typeface="-apple-system"/>
              </a:rPr>
              <a:t> Features like quick appointment booking and rescheduling.</a:t>
            </a:r>
          </a:p>
          <a:p>
            <a:pPr marL="742950" lvl="1" indent="-285750" algn="l">
              <a:buFont typeface="+mj-lt"/>
              <a:buAutoNum type="arabicPeriod"/>
            </a:pPr>
            <a:r>
              <a:rPr lang="en-GB" b="1" i="0" dirty="0">
                <a:effectLst/>
                <a:latin typeface="-apple-system"/>
              </a:rPr>
              <a:t>Mobile-Friendly:</a:t>
            </a:r>
            <a:r>
              <a:rPr lang="en-GB" b="0" i="0" dirty="0">
                <a:effectLst/>
                <a:latin typeface="-apple-system"/>
              </a:rPr>
              <a:t> Ensure the design is responsive and works well on mobile devices.</a:t>
            </a:r>
          </a:p>
          <a:p>
            <a:pPr marL="742950" lvl="1" indent="-285750" algn="l">
              <a:buFont typeface="+mj-lt"/>
              <a:buAutoNum type="arabicPeriod"/>
            </a:pPr>
            <a:r>
              <a:rPr lang="en-GB" b="1" i="0" dirty="0">
                <a:effectLst/>
                <a:latin typeface="-apple-system"/>
              </a:rPr>
              <a:t>Efficiency:</a:t>
            </a:r>
            <a:r>
              <a:rPr lang="en-GB" b="0" i="0" dirty="0">
                <a:effectLst/>
                <a:latin typeface="-apple-system"/>
              </a:rPr>
              <a:t> Streamlined processes with minimal clicks to complete tasks.</a:t>
            </a:r>
          </a:p>
          <a:p>
            <a:pPr algn="l">
              <a:buFont typeface="+mj-lt"/>
              <a:buAutoNum type="arabicPeriod"/>
            </a:pPr>
            <a:r>
              <a:rPr lang="en-GB" b="1" i="0" dirty="0">
                <a:effectLst/>
                <a:latin typeface="-apple-system"/>
              </a:rPr>
              <a:t>Disabled Users:</a:t>
            </a:r>
            <a:endParaRPr lang="en-GB" b="0" i="0" dirty="0">
              <a:effectLst/>
              <a:latin typeface="-apple-system"/>
            </a:endParaRPr>
          </a:p>
          <a:p>
            <a:pPr marL="742950" lvl="1" indent="-285750" algn="l">
              <a:buFont typeface="+mj-lt"/>
              <a:buAutoNum type="arabicPeriod"/>
            </a:pPr>
            <a:r>
              <a:rPr lang="en-GB" b="1" i="0" dirty="0">
                <a:effectLst/>
                <a:latin typeface="-apple-system"/>
              </a:rPr>
              <a:t>Accessibility Features:</a:t>
            </a:r>
            <a:r>
              <a:rPr lang="en-GB" b="0" i="0" dirty="0">
                <a:effectLst/>
                <a:latin typeface="-apple-system"/>
              </a:rPr>
              <a:t> Include screen reader compatibility, keyboard navigation, and alternative text for images.</a:t>
            </a:r>
          </a:p>
          <a:p>
            <a:pPr marL="742950" lvl="1" indent="-285750" algn="l">
              <a:buFont typeface="+mj-lt"/>
              <a:buAutoNum type="arabicPeriod"/>
            </a:pPr>
            <a:r>
              <a:rPr lang="en-GB" b="1" i="0" dirty="0">
                <a:effectLst/>
                <a:latin typeface="-apple-system"/>
              </a:rPr>
              <a:t>Customizable Interface:</a:t>
            </a:r>
            <a:r>
              <a:rPr lang="en-GB" b="0" i="0" dirty="0">
                <a:effectLst/>
                <a:latin typeface="-apple-system"/>
              </a:rPr>
              <a:t> Options to adjust font size, colour schemes, and other UI elements.</a:t>
            </a:r>
          </a:p>
          <a:p>
            <a:pPr marL="742950" lvl="1" indent="-285750" algn="l">
              <a:buFont typeface="+mj-lt"/>
              <a:buAutoNum type="arabicPeriod"/>
            </a:pPr>
            <a:r>
              <a:rPr lang="en-GB" b="1" i="0" dirty="0">
                <a:effectLst/>
                <a:latin typeface="-apple-system"/>
              </a:rPr>
              <a:t>Clear Feedback:</a:t>
            </a:r>
            <a:r>
              <a:rPr lang="en-GB" b="0" i="0" dirty="0">
                <a:effectLst/>
                <a:latin typeface="-apple-system"/>
              </a:rPr>
              <a:t> Immediate and clear feedback for actions taken (e.g., confirmation messages).</a:t>
            </a:r>
          </a:p>
          <a:p>
            <a:pPr algn="l">
              <a:buFont typeface="+mj-lt"/>
              <a:buAutoNum type="arabicPeriod"/>
            </a:pPr>
            <a:r>
              <a:rPr lang="en-GB" b="1" i="0" dirty="0">
                <a:effectLst/>
                <a:latin typeface="-apple-system"/>
              </a:rPr>
              <a:t>Tech-Savvy 18-Year-Olds:</a:t>
            </a:r>
            <a:endParaRPr lang="en-GB" b="0" i="0" dirty="0">
              <a:effectLst/>
              <a:latin typeface="-apple-system"/>
            </a:endParaRPr>
          </a:p>
          <a:p>
            <a:pPr marL="742950" lvl="1" indent="-285750" algn="l">
              <a:buFont typeface="+mj-lt"/>
              <a:buAutoNum type="arabicPeriod"/>
            </a:pPr>
            <a:r>
              <a:rPr lang="en-GB" b="1" i="0" dirty="0">
                <a:effectLst/>
                <a:latin typeface="-apple-system"/>
              </a:rPr>
              <a:t>Interactive Elements:</a:t>
            </a:r>
            <a:r>
              <a:rPr lang="en-GB" b="0" i="0" dirty="0">
                <a:effectLst/>
                <a:latin typeface="-apple-system"/>
              </a:rPr>
              <a:t> Engaging and interactive elements like drag-and-drop or animations.</a:t>
            </a:r>
          </a:p>
          <a:p>
            <a:pPr marL="742950" lvl="1" indent="-285750" algn="l">
              <a:buFont typeface="+mj-lt"/>
              <a:buAutoNum type="arabicPeriod"/>
            </a:pPr>
            <a:r>
              <a:rPr lang="en-GB" b="1" i="0" dirty="0">
                <a:effectLst/>
                <a:latin typeface="-apple-system"/>
              </a:rPr>
              <a:t>Personalization:</a:t>
            </a:r>
            <a:r>
              <a:rPr lang="en-GB" b="0" i="0" dirty="0">
                <a:effectLst/>
                <a:latin typeface="-apple-system"/>
              </a:rPr>
              <a:t> Options to customise the interface based on preferences.</a:t>
            </a:r>
          </a:p>
          <a:p>
            <a:pPr marL="742950" lvl="1" indent="-285750" algn="l">
              <a:buFont typeface="+mj-lt"/>
              <a:buAutoNum type="arabicPeriod"/>
            </a:pPr>
            <a:r>
              <a:rPr lang="en-GB" b="1" i="0" dirty="0">
                <a:effectLst/>
                <a:latin typeface="-apple-system"/>
              </a:rPr>
              <a:t>Modern Design:</a:t>
            </a:r>
            <a:r>
              <a:rPr lang="en-GB" b="0" i="0" dirty="0">
                <a:effectLst/>
                <a:latin typeface="-apple-system"/>
              </a:rPr>
              <a:t> Aesthetic and modern design elements that appeal to younger users.</a:t>
            </a:r>
          </a:p>
          <a:p>
            <a:endParaRPr lang="en-GB" dirty="0"/>
          </a:p>
        </p:txBody>
      </p:sp>
    </p:spTree>
    <p:extLst>
      <p:ext uri="{BB962C8B-B14F-4D97-AF65-F5344CB8AC3E}">
        <p14:creationId xmlns:p14="http://schemas.microsoft.com/office/powerpoint/2010/main" val="407491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25338-75B4-670F-971A-DCE02ABC8481}"/>
              </a:ext>
            </a:extLst>
          </p:cNvPr>
          <p:cNvSpPr>
            <a:spLocks noGrp="1"/>
          </p:cNvSpPr>
          <p:nvPr>
            <p:ph type="title"/>
          </p:nvPr>
        </p:nvSpPr>
        <p:spPr>
          <a:xfrm>
            <a:off x="913794" y="110972"/>
            <a:ext cx="10353761" cy="661385"/>
          </a:xfrm>
        </p:spPr>
        <p:txBody>
          <a:bodyPr/>
          <a:lstStyle/>
          <a:p>
            <a:r>
              <a:rPr lang="en-GB" dirty="0">
                <a:effectLst/>
                <a:latin typeface="-apple-system"/>
              </a:rPr>
              <a:t>Things to Look for in the Design:</a:t>
            </a:r>
            <a:endParaRPr lang="en-GB" dirty="0"/>
          </a:p>
        </p:txBody>
      </p:sp>
      <p:sp>
        <p:nvSpPr>
          <p:cNvPr id="3" name="Content Placeholder 2">
            <a:extLst>
              <a:ext uri="{FF2B5EF4-FFF2-40B4-BE49-F238E27FC236}">
                <a16:creationId xmlns:a16="http://schemas.microsoft.com/office/drawing/2014/main" id="{E239A4CA-36C5-40ED-13A4-3F8C15AEDE29}"/>
              </a:ext>
            </a:extLst>
          </p:cNvPr>
          <p:cNvSpPr>
            <a:spLocks noGrp="1"/>
          </p:cNvSpPr>
          <p:nvPr>
            <p:ph idx="1"/>
          </p:nvPr>
        </p:nvSpPr>
        <p:spPr>
          <a:xfrm>
            <a:off x="913795" y="914401"/>
            <a:ext cx="10353762" cy="5832628"/>
          </a:xfrm>
        </p:spPr>
        <p:txBody>
          <a:bodyPr>
            <a:normAutofit fontScale="85000" lnSpcReduction="20000"/>
          </a:bodyPr>
          <a:lstStyle/>
          <a:p>
            <a:pPr algn="l">
              <a:buFont typeface="+mj-lt"/>
              <a:buAutoNum type="arabicPeriod"/>
            </a:pPr>
            <a:r>
              <a:rPr lang="en-GB" b="1" i="0" dirty="0">
                <a:effectLst/>
                <a:latin typeface="-apple-system"/>
              </a:rPr>
              <a:t>Usability:</a:t>
            </a:r>
            <a:endParaRPr lang="en-GB" b="0" i="0" dirty="0">
              <a:effectLst/>
              <a:latin typeface="-apple-system"/>
            </a:endParaRPr>
          </a:p>
          <a:p>
            <a:pPr marL="742950" lvl="1" indent="-285750" algn="l">
              <a:buFont typeface="+mj-lt"/>
              <a:buAutoNum type="arabicPeriod"/>
            </a:pPr>
            <a:r>
              <a:rPr lang="en-GB" b="0" i="0" dirty="0">
                <a:effectLst/>
                <a:latin typeface="-apple-system"/>
              </a:rPr>
              <a:t>Is the interface clear and easy to navigate?</a:t>
            </a:r>
          </a:p>
          <a:p>
            <a:pPr marL="742950" lvl="1" indent="-285750" algn="l">
              <a:buFont typeface="+mj-lt"/>
              <a:buAutoNum type="arabicPeriod"/>
            </a:pPr>
            <a:r>
              <a:rPr lang="en-GB" b="0" i="0" dirty="0">
                <a:effectLst/>
                <a:latin typeface="-apple-system"/>
              </a:rPr>
              <a:t>Are the most important features easily accessible?</a:t>
            </a:r>
          </a:p>
          <a:p>
            <a:pPr algn="l">
              <a:buFont typeface="+mj-lt"/>
              <a:buAutoNum type="arabicPeriod"/>
            </a:pPr>
            <a:r>
              <a:rPr lang="en-GB" b="1" i="0" dirty="0">
                <a:effectLst/>
                <a:latin typeface="-apple-system"/>
              </a:rPr>
              <a:t>Accessibility:</a:t>
            </a:r>
            <a:endParaRPr lang="en-GB" b="0" i="0" dirty="0">
              <a:effectLst/>
              <a:latin typeface="-apple-system"/>
            </a:endParaRPr>
          </a:p>
          <a:p>
            <a:pPr marL="742950" lvl="1" indent="-285750" algn="l">
              <a:buFont typeface="+mj-lt"/>
              <a:buAutoNum type="arabicPeriod"/>
            </a:pPr>
            <a:r>
              <a:rPr lang="en-GB" b="0" i="0" dirty="0">
                <a:effectLst/>
                <a:latin typeface="-apple-system"/>
              </a:rPr>
              <a:t>Does the design accommodate users with different abilities?</a:t>
            </a:r>
          </a:p>
          <a:p>
            <a:pPr marL="742950" lvl="1" indent="-285750" algn="l">
              <a:buFont typeface="+mj-lt"/>
              <a:buAutoNum type="arabicPeriod"/>
            </a:pPr>
            <a:r>
              <a:rPr lang="en-GB" b="0" i="0" dirty="0">
                <a:effectLst/>
                <a:latin typeface="-apple-system"/>
              </a:rPr>
              <a:t>Are there features that enhance accessibility, such as screen reader support?</a:t>
            </a:r>
          </a:p>
          <a:p>
            <a:pPr algn="l">
              <a:buFont typeface="+mj-lt"/>
              <a:buAutoNum type="arabicPeriod"/>
            </a:pPr>
            <a:r>
              <a:rPr lang="en-GB" b="1" i="0" dirty="0">
                <a:effectLst/>
                <a:latin typeface="-apple-system"/>
              </a:rPr>
              <a:t>Responsiveness:</a:t>
            </a:r>
            <a:endParaRPr lang="en-GB" b="0" i="0" dirty="0">
              <a:effectLst/>
              <a:latin typeface="-apple-system"/>
            </a:endParaRPr>
          </a:p>
          <a:p>
            <a:pPr marL="742950" lvl="1" indent="-285750" algn="l">
              <a:buFont typeface="+mj-lt"/>
              <a:buAutoNum type="arabicPeriod"/>
            </a:pPr>
            <a:r>
              <a:rPr lang="en-GB" b="0" i="0" dirty="0">
                <a:effectLst/>
                <a:latin typeface="-apple-system"/>
              </a:rPr>
              <a:t>Does the design work well on different devices (desktop, tablet, mobile)?</a:t>
            </a:r>
          </a:p>
          <a:p>
            <a:pPr marL="742950" lvl="1" indent="-285750" algn="l">
              <a:buFont typeface="+mj-lt"/>
              <a:buAutoNum type="arabicPeriod"/>
            </a:pPr>
            <a:r>
              <a:rPr lang="en-GB" b="0" i="0" dirty="0">
                <a:effectLst/>
                <a:latin typeface="-apple-system"/>
              </a:rPr>
              <a:t>Is the layout adaptive to various screen sizes?</a:t>
            </a:r>
          </a:p>
          <a:p>
            <a:pPr algn="l">
              <a:buFont typeface="+mj-lt"/>
              <a:buAutoNum type="arabicPeriod"/>
            </a:pPr>
            <a:r>
              <a:rPr lang="en-GB" b="1" i="0" dirty="0">
                <a:effectLst/>
                <a:latin typeface="-apple-system"/>
              </a:rPr>
              <a:t>Visual Design:</a:t>
            </a:r>
            <a:endParaRPr lang="en-GB" b="0" i="0" dirty="0">
              <a:effectLst/>
              <a:latin typeface="-apple-system"/>
            </a:endParaRPr>
          </a:p>
          <a:p>
            <a:pPr marL="742950" lvl="1" indent="-285750" algn="l">
              <a:buFont typeface="+mj-lt"/>
              <a:buAutoNum type="arabicPeriod"/>
            </a:pPr>
            <a:r>
              <a:rPr lang="en-GB" b="0" i="0" dirty="0">
                <a:effectLst/>
                <a:latin typeface="-apple-system"/>
              </a:rPr>
              <a:t>Is the design visually appealing and consistent?</a:t>
            </a:r>
          </a:p>
          <a:p>
            <a:pPr marL="742950" lvl="1" indent="-285750" algn="l">
              <a:buFont typeface="+mj-lt"/>
              <a:buAutoNum type="arabicPeriod"/>
            </a:pPr>
            <a:r>
              <a:rPr lang="en-GB" b="0" i="0" dirty="0">
                <a:effectLst/>
                <a:latin typeface="-apple-system"/>
              </a:rPr>
              <a:t>Are the colours, fonts, and icons used effectively?</a:t>
            </a:r>
          </a:p>
          <a:p>
            <a:pPr algn="l">
              <a:buFont typeface="+mj-lt"/>
              <a:buAutoNum type="arabicPeriod"/>
            </a:pPr>
            <a:r>
              <a:rPr lang="en-GB" b="1" i="0" dirty="0">
                <a:effectLst/>
                <a:latin typeface="-apple-system"/>
              </a:rPr>
              <a:t>Feedback Mechanisms:</a:t>
            </a:r>
            <a:endParaRPr lang="en-GB" b="0" i="0" dirty="0">
              <a:effectLst/>
              <a:latin typeface="-apple-system"/>
            </a:endParaRPr>
          </a:p>
          <a:p>
            <a:pPr marL="742950" lvl="1" indent="-285750" algn="l">
              <a:buFont typeface="+mj-lt"/>
              <a:buAutoNum type="arabicPeriod"/>
            </a:pPr>
            <a:r>
              <a:rPr lang="en-GB" b="0" i="0" dirty="0">
                <a:effectLst/>
                <a:latin typeface="-apple-system"/>
              </a:rPr>
              <a:t>Are there clear indicators of actions (e.g., confirmation messages, error messages)?</a:t>
            </a:r>
          </a:p>
          <a:p>
            <a:pPr marL="742950" lvl="1" indent="-285750" algn="l">
              <a:buFont typeface="+mj-lt"/>
              <a:buAutoNum type="arabicPeriod"/>
            </a:pPr>
            <a:r>
              <a:rPr lang="en-GB" b="0" i="0" dirty="0">
                <a:effectLst/>
                <a:latin typeface="-apple-system"/>
              </a:rPr>
              <a:t>Is there feedback provided for user interactions?</a:t>
            </a:r>
          </a:p>
          <a:p>
            <a:pPr algn="l">
              <a:buFont typeface="+mj-lt"/>
              <a:buAutoNum type="arabicPeriod"/>
            </a:pPr>
            <a:r>
              <a:rPr lang="en-GB" b="1" i="0" dirty="0">
                <a:effectLst/>
                <a:latin typeface="-apple-system"/>
              </a:rPr>
              <a:t>User Flow:</a:t>
            </a:r>
            <a:endParaRPr lang="en-GB" b="0" i="0" dirty="0">
              <a:effectLst/>
              <a:latin typeface="-apple-system"/>
            </a:endParaRPr>
          </a:p>
          <a:p>
            <a:pPr marL="742950" lvl="1" indent="-285750" algn="l">
              <a:buFont typeface="+mj-lt"/>
              <a:buAutoNum type="arabicPeriod"/>
            </a:pPr>
            <a:r>
              <a:rPr lang="en-GB" b="0" i="0" dirty="0">
                <a:effectLst/>
                <a:latin typeface="-apple-system"/>
              </a:rPr>
              <a:t>Is the user flow logical and efficient?</a:t>
            </a:r>
          </a:p>
          <a:p>
            <a:pPr marL="742950" lvl="1" indent="-285750" algn="l">
              <a:buFont typeface="+mj-lt"/>
              <a:buAutoNum type="arabicPeriod"/>
            </a:pPr>
            <a:r>
              <a:rPr lang="en-GB" b="0" i="0" dirty="0">
                <a:effectLst/>
                <a:latin typeface="-apple-system"/>
              </a:rPr>
              <a:t>Are there any unnecessary steps that could be streamlined?</a:t>
            </a:r>
          </a:p>
          <a:p>
            <a:endParaRPr lang="en-GB" dirty="0"/>
          </a:p>
        </p:txBody>
      </p:sp>
    </p:spTree>
    <p:extLst>
      <p:ext uri="{BB962C8B-B14F-4D97-AF65-F5344CB8AC3E}">
        <p14:creationId xmlns:p14="http://schemas.microsoft.com/office/powerpoint/2010/main" val="32388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6" end="1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1208313"/>
            <a:ext cx="10799234" cy="5225143"/>
          </a:xfrm>
        </p:spPr>
        <p:txBody>
          <a:bodyPr>
            <a:noAutofit/>
          </a:bodyPr>
          <a:lstStyle/>
          <a:p>
            <a:pPr marL="457200" indent="-457200">
              <a:buFont typeface="+mj-lt"/>
              <a:buAutoNum type="arabicPeriod" startAt="5"/>
            </a:pPr>
            <a:r>
              <a:rPr lang="en-GB" sz="2800" b="1" dirty="0">
                <a:solidFill>
                  <a:srgbClr val="92D050"/>
                </a:solidFill>
                <a:latin typeface="Calibri" panose="020F0502020204030204" pitchFamily="34" charset="0"/>
                <a:cs typeface="Calibri" panose="020F0502020204030204" pitchFamily="34" charset="0"/>
              </a:rPr>
              <a:t>Use Testing and Feedback Loops</a:t>
            </a:r>
          </a:p>
          <a:p>
            <a:pPr marL="990600" indent="-457200">
              <a:buFont typeface="+mj-lt"/>
              <a:buAutoNum type="alphaLcParenR"/>
            </a:pPr>
            <a:r>
              <a:rPr lang="en-GB" sz="2400" dirty="0">
                <a:latin typeface="Calibri" panose="020F0502020204030204" pitchFamily="34" charset="0"/>
                <a:cs typeface="Calibri" panose="020F0502020204030204" pitchFamily="34" charset="0"/>
              </a:rPr>
              <a:t>Why is user feedback crucial for improving software and meeting user needs? This question is related to feedback on the software</a:t>
            </a:r>
          </a:p>
          <a:p>
            <a:pPr lvl="2"/>
            <a:r>
              <a:rPr lang="en-GB" sz="2000" dirty="0">
                <a:effectLst/>
                <a:latin typeface="Segoe UI" panose="020B0502040204020203" pitchFamily="34" charset="0"/>
                <a:cs typeface="Segoe UI" panose="020B0502040204020203" pitchFamily="34" charset="0"/>
              </a:rPr>
              <a:t>User feedback provides direct insights into how the software is being used and what issues users are encountering.</a:t>
            </a:r>
          </a:p>
          <a:p>
            <a:pPr lvl="2"/>
            <a:r>
              <a:rPr lang="en-GB" sz="2000" dirty="0">
                <a:effectLst/>
                <a:latin typeface="Segoe UI" panose="020B0502040204020203" pitchFamily="34" charset="0"/>
                <a:cs typeface="Segoe UI" panose="020B0502040204020203" pitchFamily="34" charset="0"/>
              </a:rPr>
              <a:t>It helps identify bugs and usability problems that developers might not have noticed.</a:t>
            </a:r>
          </a:p>
          <a:p>
            <a:pPr lvl="2"/>
            <a:r>
              <a:rPr lang="en-GB" sz="2000" dirty="0">
                <a:effectLst/>
                <a:latin typeface="Segoe UI" panose="020B0502040204020203" pitchFamily="34" charset="0"/>
                <a:cs typeface="Segoe UI" panose="020B0502040204020203" pitchFamily="34" charset="0"/>
              </a:rPr>
              <a:t>Feedback can highlight features that users find most valuable, guiding future development priorities.</a:t>
            </a:r>
          </a:p>
          <a:p>
            <a:pPr lvl="2"/>
            <a:r>
              <a:rPr lang="en-GB" sz="2000" dirty="0">
                <a:effectLst/>
                <a:latin typeface="Segoe UI" panose="020B0502040204020203" pitchFamily="34" charset="0"/>
                <a:cs typeface="Segoe UI" panose="020B0502040204020203" pitchFamily="34" charset="0"/>
              </a:rPr>
              <a:t>It ensures that the software evolves in a way that aligns with user expectations and needs, leading to higher satisfaction and retention.</a:t>
            </a: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655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2024" y="533398"/>
            <a:ext cx="10353762" cy="5290457"/>
          </a:xfrm>
        </p:spPr>
        <p:txBody>
          <a:bodyPr>
            <a:noAutofit/>
          </a:bodyPr>
          <a:lstStyle/>
          <a:p>
            <a:pPr marL="457200" indent="-457200">
              <a:buFont typeface="+mj-lt"/>
              <a:buAutoNum type="arabicPeriod" startAt="5"/>
            </a:pPr>
            <a:r>
              <a:rPr lang="en-GB" sz="2800" b="1" dirty="0">
                <a:solidFill>
                  <a:srgbClr val="92D050"/>
                </a:solidFill>
                <a:latin typeface="Calibri" panose="020F0502020204030204" pitchFamily="34" charset="0"/>
                <a:cs typeface="Calibri" panose="020F0502020204030204" pitchFamily="34" charset="0"/>
              </a:rPr>
              <a:t>Use Testing and Feedback Loops</a:t>
            </a:r>
          </a:p>
          <a:p>
            <a:pPr marL="990600" indent="-457200">
              <a:buFont typeface="+mj-lt"/>
              <a:buAutoNum type="alphaLcParenR" startAt="2"/>
            </a:pPr>
            <a:r>
              <a:rPr lang="en-GB" sz="2400" dirty="0">
                <a:latin typeface="Calibri" panose="020F0502020204030204" pitchFamily="34" charset="0"/>
                <a:cs typeface="Calibri" panose="020F0502020204030204" pitchFamily="34" charset="0"/>
              </a:rPr>
              <a:t>Why do you think feedback after using the system is valuable, especially for understanding what users like or dislike about a feature, in this case, the appointment booking system. This question narrows down to the specific value of feedback after users have interacted with a particular feature.</a:t>
            </a:r>
          </a:p>
          <a:p>
            <a:pPr lvl="2"/>
            <a:r>
              <a:rPr lang="en-GB" sz="2000" dirty="0">
                <a:effectLst/>
                <a:latin typeface="Segoe UI" panose="020B0502040204020203" pitchFamily="34" charset="0"/>
                <a:cs typeface="Segoe UI" panose="020B0502040204020203" pitchFamily="34" charset="0"/>
              </a:rPr>
              <a:t>Post-use feedback can reveal specific pain points or areas of confusion that users experience.</a:t>
            </a:r>
          </a:p>
          <a:p>
            <a:pPr lvl="2"/>
            <a:r>
              <a:rPr lang="en-GB" sz="2000" dirty="0">
                <a:effectLst/>
                <a:latin typeface="Segoe UI" panose="020B0502040204020203" pitchFamily="34" charset="0"/>
                <a:cs typeface="Segoe UI" panose="020B0502040204020203" pitchFamily="34" charset="0"/>
              </a:rPr>
              <a:t>It helps understand user preferences and behaviours, which can inform design improvements.</a:t>
            </a:r>
          </a:p>
          <a:p>
            <a:pPr lvl="2"/>
            <a:r>
              <a:rPr lang="en-GB" sz="2000" dirty="0">
                <a:effectLst/>
                <a:latin typeface="Segoe UI" panose="020B0502040204020203" pitchFamily="34" charset="0"/>
                <a:cs typeface="Segoe UI" panose="020B0502040204020203" pitchFamily="34" charset="0"/>
              </a:rPr>
              <a:t>Positive feedback can validate successful features, while negative feedback can pinpoint areas needing enhancement.</a:t>
            </a:r>
          </a:p>
          <a:p>
            <a:pPr lvl="2"/>
            <a:r>
              <a:rPr lang="en-GB" sz="2000" dirty="0">
                <a:effectLst/>
                <a:latin typeface="Segoe UI" panose="020B0502040204020203" pitchFamily="34" charset="0"/>
                <a:cs typeface="Segoe UI" panose="020B0502040204020203" pitchFamily="34" charset="0"/>
              </a:rPr>
              <a:t>It provides a real-world perspective on how the system performs under actual usage conditions.</a:t>
            </a:r>
          </a:p>
        </p:txBody>
      </p:sp>
    </p:spTree>
    <p:extLst>
      <p:ext uri="{BB962C8B-B14F-4D97-AF65-F5344CB8AC3E}">
        <p14:creationId xmlns:p14="http://schemas.microsoft.com/office/powerpoint/2010/main" val="176893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2536" y="108855"/>
            <a:ext cx="11223777" cy="5921830"/>
          </a:xfrm>
        </p:spPr>
        <p:txBody>
          <a:bodyPr>
            <a:noAutofit/>
          </a:bodyPr>
          <a:lstStyle/>
          <a:p>
            <a:pPr marL="457200" indent="-457200">
              <a:buFont typeface="+mj-lt"/>
              <a:buAutoNum type="arabicPeriod" startAt="5"/>
            </a:pPr>
            <a:r>
              <a:rPr lang="en-GB" sz="2800" b="1" dirty="0">
                <a:solidFill>
                  <a:srgbClr val="92D050"/>
                </a:solidFill>
                <a:latin typeface="Calibri" panose="020F0502020204030204" pitchFamily="34" charset="0"/>
                <a:cs typeface="Calibri" panose="020F0502020204030204" pitchFamily="34" charset="0"/>
              </a:rPr>
              <a:t>Use Testing and Feedback Loops</a:t>
            </a:r>
          </a:p>
          <a:p>
            <a:pPr marL="990600" indent="-457200">
              <a:buFont typeface="+mj-lt"/>
              <a:buAutoNum type="alphaLcParenR" startAt="3"/>
            </a:pPr>
            <a:r>
              <a:rPr lang="en-GB" sz="2400" dirty="0">
                <a:latin typeface="Calibri" panose="020F0502020204030204" pitchFamily="34" charset="0"/>
                <a:cs typeface="Calibri" panose="020F0502020204030204" pitchFamily="34" charset="0"/>
              </a:rPr>
              <a:t>How would you test the system and refine it? Meeting the needs of users involves continuous improvement based on feedback. This question is about the practical steps involved in testing and refining the system based on user feedback.</a:t>
            </a:r>
          </a:p>
          <a:p>
            <a:pPr lvl="2"/>
            <a:r>
              <a:rPr lang="en-GB" sz="2000" dirty="0">
                <a:effectLst/>
                <a:latin typeface="Segoe UI" panose="020B0502040204020203" pitchFamily="34" charset="0"/>
                <a:cs typeface="Segoe UI" panose="020B0502040204020203" pitchFamily="34" charset="0"/>
              </a:rPr>
              <a:t>Conduct usability testing with a diverse group of real users to gather a wide range of feedback.</a:t>
            </a:r>
          </a:p>
          <a:p>
            <a:pPr lvl="2"/>
            <a:r>
              <a:rPr lang="en-GB" sz="2000" dirty="0">
                <a:effectLst/>
                <a:latin typeface="Segoe UI" panose="020B0502040204020203" pitchFamily="34" charset="0"/>
                <a:cs typeface="Segoe UI" panose="020B0502040204020203" pitchFamily="34" charset="0"/>
              </a:rPr>
              <a:t>Use surveys, interviews, and observation to collect detailed user experiences and suggestions.</a:t>
            </a:r>
          </a:p>
          <a:p>
            <a:pPr lvl="2"/>
            <a:r>
              <a:rPr lang="en-GB" sz="2000" dirty="0">
                <a:effectLst/>
                <a:latin typeface="Segoe UI" panose="020B0502040204020203" pitchFamily="34" charset="0"/>
                <a:cs typeface="Segoe UI" panose="020B0502040204020203" pitchFamily="34" charset="0"/>
              </a:rPr>
              <a:t>Implement changes based on feedback and then re-test to ensure the issues have been resolved.</a:t>
            </a:r>
          </a:p>
          <a:p>
            <a:pPr lvl="2"/>
            <a:r>
              <a:rPr lang="en-GB" sz="2000" dirty="0">
                <a:effectLst/>
                <a:latin typeface="Segoe UI" panose="020B0502040204020203" pitchFamily="34" charset="0"/>
                <a:cs typeface="Segoe UI" panose="020B0502040204020203" pitchFamily="34" charset="0"/>
              </a:rPr>
              <a:t>Keep improving the design by regularly making small changes based on what users tell you. Each time you get feedback, use it to make the product a little better. This way, the product keeps getting better over time.</a:t>
            </a:r>
          </a:p>
          <a:p>
            <a:pPr lvl="2"/>
            <a:r>
              <a:rPr lang="en-GB" sz="2000" dirty="0">
                <a:effectLst/>
                <a:latin typeface="Segoe UI" panose="020B0502040204020203" pitchFamily="34" charset="0"/>
                <a:cs typeface="Segoe UI" panose="020B0502040204020203" pitchFamily="34" charset="0"/>
              </a:rPr>
              <a:t>Monitor user interactions with the system through analytics to identify ongoing issues and areas for enhancement.  </a:t>
            </a:r>
            <a:endParaRPr lang="en-GB"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593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libri" panose="020F0502020204030204" pitchFamily="34" charset="0"/>
              </a:rPr>
              <a:t>A. </a:t>
            </a:r>
            <a:r>
              <a:rPr lang="en-GB" dirty="0">
                <a:latin typeface="Calibri" panose="020F0502020204030204" pitchFamily="34" charset="0"/>
                <a:cs typeface="Calibri" panose="020F0502020204030204" pitchFamily="34" charset="0"/>
              </a:rPr>
              <a:t>User survey </a:t>
            </a:r>
            <a:endParaRPr lang="en-GB" dirty="0"/>
          </a:p>
        </p:txBody>
      </p:sp>
      <p:sp>
        <p:nvSpPr>
          <p:cNvPr id="3" name="Content Placeholder 2"/>
          <p:cNvSpPr>
            <a:spLocks noGrp="1"/>
          </p:cNvSpPr>
          <p:nvPr>
            <p:ph idx="1"/>
          </p:nvPr>
        </p:nvSpPr>
        <p:spPr>
          <a:xfrm>
            <a:off x="913794" y="1671521"/>
            <a:ext cx="10592405" cy="4979650"/>
          </a:xfrm>
        </p:spPr>
        <p:txBody>
          <a:bodyPr>
            <a:noAutofit/>
          </a:bodyPr>
          <a:lstStyle/>
          <a:p>
            <a:r>
              <a:rPr lang="en-GB" sz="2400" dirty="0">
                <a:latin typeface="Calibri" panose="020F0502020204030204" pitchFamily="34" charset="0"/>
                <a:cs typeface="Calibri" panose="020F0502020204030204" pitchFamily="34" charset="0"/>
              </a:rPr>
              <a:t>After a user or patient books, reschedules, or cancels an appointment, a short survey could pop up asking about their experience. For example:</a:t>
            </a:r>
          </a:p>
          <a:p>
            <a:pPr lvl="1"/>
            <a:r>
              <a:rPr lang="en-GB" sz="2200" dirty="0">
                <a:latin typeface="Calibri" panose="020F0502020204030204" pitchFamily="34" charset="0"/>
                <a:cs typeface="Calibri" panose="020F0502020204030204" pitchFamily="34" charset="0"/>
              </a:rPr>
              <a:t>"Was the booking process easy?“</a:t>
            </a:r>
          </a:p>
          <a:p>
            <a:pPr lvl="1"/>
            <a:r>
              <a:rPr lang="en-GB" sz="2200" dirty="0">
                <a:latin typeface="Calibri" panose="020F0502020204030204" pitchFamily="34" charset="0"/>
                <a:cs typeface="Calibri" panose="020F0502020204030204" pitchFamily="34" charset="0"/>
              </a:rPr>
              <a:t>"Did you find what you were looking for?“</a:t>
            </a:r>
          </a:p>
          <a:p>
            <a:pPr lvl="1"/>
            <a:r>
              <a:rPr lang="en-GB" sz="2200" dirty="0">
                <a:latin typeface="Calibri" panose="020F0502020204030204" pitchFamily="34" charset="0"/>
                <a:cs typeface="Calibri" panose="020F0502020204030204" pitchFamily="34" charset="0"/>
              </a:rPr>
              <a:t>"What can we improve?“ </a:t>
            </a:r>
          </a:p>
          <a:p>
            <a:r>
              <a:rPr lang="en-GB" sz="2400" dirty="0">
                <a:latin typeface="Calibri" panose="020F0502020204030204" pitchFamily="34" charset="0"/>
                <a:cs typeface="Calibri" panose="020F0502020204030204" pitchFamily="34" charset="0"/>
              </a:rPr>
              <a:t>Users could rate their experience with a simple 5-star system and leave additional comments.  </a:t>
            </a:r>
          </a:p>
          <a:p>
            <a:r>
              <a:rPr lang="en-GB" sz="2400" dirty="0">
                <a:latin typeface="Calibri" panose="020F0502020204030204" pitchFamily="34" charset="0"/>
                <a:cs typeface="Calibri" panose="020F0502020204030204" pitchFamily="34" charset="0"/>
              </a:rPr>
              <a:t>A follow up e-mail could be sent asking for feedback on the booking system or any other features used.  You could alternatively allow users to provide feedback at any time while using the platform through a button integrated into the system.</a:t>
            </a:r>
          </a:p>
          <a:p>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819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libri" panose="020F0502020204030204" pitchFamily="34" charset="0"/>
                <a:cs typeface="Calibri" panose="020F0502020204030204" pitchFamily="34" charset="0"/>
              </a:rPr>
              <a:t>b. Feedback</a:t>
            </a:r>
            <a:endParaRPr lang="en-GB" dirty="0"/>
          </a:p>
        </p:txBody>
      </p:sp>
      <p:sp>
        <p:nvSpPr>
          <p:cNvPr id="3" name="Content Placeholder 2"/>
          <p:cNvSpPr>
            <a:spLocks noGrp="1"/>
          </p:cNvSpPr>
          <p:nvPr>
            <p:ph idx="1"/>
          </p:nvPr>
        </p:nvSpPr>
        <p:spPr>
          <a:xfrm>
            <a:off x="913795" y="2096063"/>
            <a:ext cx="10353762" cy="4326507"/>
          </a:xfrm>
        </p:spPr>
        <p:txBody>
          <a:bodyPr>
            <a:noAutofit/>
          </a:bodyPr>
          <a:lstStyle/>
          <a:p>
            <a:r>
              <a:rPr lang="en-GB" sz="2400" dirty="0">
                <a:latin typeface="Calibri" panose="020F0502020204030204" pitchFamily="34" charset="0"/>
                <a:cs typeface="Calibri" panose="020F0502020204030204" pitchFamily="34" charset="0"/>
              </a:rPr>
              <a:t>If feedback reveals that users find the booking process too complicated, </a:t>
            </a:r>
            <a:r>
              <a:rPr lang="en-GB" sz="2400" dirty="0" err="1">
                <a:latin typeface="Calibri" panose="020F0502020204030204" pitchFamily="34" charset="0"/>
                <a:cs typeface="Calibri" panose="020F0502020204030204" pitchFamily="34" charset="0"/>
              </a:rPr>
              <a:t>MediHealth</a:t>
            </a:r>
            <a:r>
              <a:rPr lang="en-GB" sz="2400" dirty="0">
                <a:latin typeface="Calibri" panose="020F0502020204030204" pitchFamily="34" charset="0"/>
                <a:cs typeface="Calibri" panose="020F0502020204030204" pitchFamily="34" charset="0"/>
              </a:rPr>
              <a:t> could simplify the process by reducing the number of steps required to book an appointment. </a:t>
            </a:r>
          </a:p>
          <a:p>
            <a:r>
              <a:rPr lang="en-GB" sz="2400" dirty="0">
                <a:latin typeface="Calibri" panose="020F0502020204030204" pitchFamily="34" charset="0"/>
                <a:cs typeface="Calibri" panose="020F0502020204030204" pitchFamily="34" charset="0"/>
              </a:rPr>
              <a:t>If users consistently mention that navigation is unclear, the platform might redesign the interface to improve clarity. </a:t>
            </a:r>
          </a:p>
          <a:p>
            <a:r>
              <a:rPr lang="en-GB" sz="2400" dirty="0">
                <a:latin typeface="Calibri" panose="020F0502020204030204" pitchFamily="34" charset="0"/>
                <a:cs typeface="Calibri" panose="020F0502020204030204" pitchFamily="34" charset="0"/>
              </a:rPr>
              <a:t>If users suggest features that are missing, like reminders or confirmation emails, </a:t>
            </a:r>
            <a:r>
              <a:rPr lang="en-GB" sz="2400" dirty="0" err="1">
                <a:latin typeface="Calibri" panose="020F0502020204030204" pitchFamily="34" charset="0"/>
                <a:cs typeface="Calibri" panose="020F0502020204030204" pitchFamily="34" charset="0"/>
              </a:rPr>
              <a:t>MediHealth</a:t>
            </a:r>
            <a:r>
              <a:rPr lang="en-GB" sz="2400" dirty="0">
                <a:latin typeface="Calibri" panose="020F0502020204030204" pitchFamily="34" charset="0"/>
                <a:cs typeface="Calibri" panose="020F0502020204030204" pitchFamily="34" charset="0"/>
              </a:rPr>
              <a:t> could integrate those into future updates.</a:t>
            </a:r>
          </a:p>
        </p:txBody>
      </p:sp>
    </p:spTree>
    <p:extLst>
      <p:ext uri="{BB962C8B-B14F-4D97-AF65-F5344CB8AC3E}">
        <p14:creationId xmlns:p14="http://schemas.microsoft.com/office/powerpoint/2010/main" val="49520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libri" panose="020F0502020204030204" pitchFamily="34" charset="0"/>
                <a:cs typeface="Calibri" panose="020F0502020204030204" pitchFamily="34" charset="0"/>
              </a:rPr>
              <a:t>C. Accessibility</a:t>
            </a:r>
            <a:endParaRPr lang="en-GB" dirty="0"/>
          </a:p>
        </p:txBody>
      </p:sp>
      <p:sp>
        <p:nvSpPr>
          <p:cNvPr id="3" name="Content Placeholder 2"/>
          <p:cNvSpPr>
            <a:spLocks noGrp="1"/>
          </p:cNvSpPr>
          <p:nvPr>
            <p:ph idx="1"/>
          </p:nvPr>
        </p:nvSpPr>
        <p:spPr/>
        <p:txBody>
          <a:bodyPr>
            <a:noAutofit/>
          </a:bodyPr>
          <a:lstStyle/>
          <a:p>
            <a:r>
              <a:rPr lang="en-GB" sz="2400" dirty="0">
                <a:latin typeface="Calibri" panose="020F0502020204030204" pitchFamily="34" charset="0"/>
                <a:cs typeface="Calibri" panose="020F0502020204030204" pitchFamily="34" charset="0"/>
              </a:rPr>
              <a:t>To meet the needs of the users the colour scheme will need to be considered </a:t>
            </a:r>
            <a:r>
              <a:rPr lang="en-GB" sz="2400" dirty="0" err="1">
                <a:latin typeface="Calibri" panose="020F0502020204030204" pitchFamily="34" charset="0"/>
                <a:cs typeface="Calibri" panose="020F0502020204030204" pitchFamily="34" charset="0"/>
              </a:rPr>
              <a:t>eg</a:t>
            </a:r>
            <a:r>
              <a:rPr lang="en-GB" sz="2400" dirty="0">
                <a:latin typeface="Calibri" panose="020F0502020204030204" pitchFamily="34" charset="0"/>
                <a:cs typeface="Calibri" panose="020F0502020204030204" pitchFamily="34" charset="0"/>
              </a:rPr>
              <a:t> colour blind people, having a text to speech or font enlargement button to help those with visual impairment.  </a:t>
            </a:r>
          </a:p>
          <a:p>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04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06828"/>
            <a:ext cx="10353761" cy="1326321"/>
          </a:xfrm>
        </p:spPr>
        <p:txBody>
          <a:bodyPr/>
          <a:lstStyle/>
          <a:p>
            <a:endParaRPr lang="en-GB" dirty="0">
              <a:latin typeface="Calibri" panose="020F0502020204030204" pitchFamily="34" charset="0"/>
            </a:endParaRPr>
          </a:p>
        </p:txBody>
      </p:sp>
      <p:sp>
        <p:nvSpPr>
          <p:cNvPr id="3" name="Content Placeholder 2"/>
          <p:cNvSpPr>
            <a:spLocks noGrp="1"/>
          </p:cNvSpPr>
          <p:nvPr>
            <p:ph idx="1"/>
          </p:nvPr>
        </p:nvSpPr>
        <p:spPr>
          <a:xfrm>
            <a:off x="913794" y="1268750"/>
            <a:ext cx="10353762" cy="690679"/>
          </a:xfrm>
        </p:spPr>
        <p:txBody>
          <a:bodyPr>
            <a:normAutofit/>
          </a:bodyPr>
          <a:lstStyle/>
          <a:p>
            <a:r>
              <a:rPr lang="en-GB">
                <a:latin typeface="Calibri" panose="020F0502020204030204" pitchFamily="34" charset="0"/>
              </a:rPr>
              <a:t>What </a:t>
            </a:r>
            <a:r>
              <a:rPr lang="en-GB" dirty="0">
                <a:latin typeface="Calibri" panose="020F0502020204030204" pitchFamily="34" charset="0"/>
              </a:rPr>
              <a:t>will the client be able to do and what will users be able to do.</a:t>
            </a:r>
          </a:p>
          <a:p>
            <a:endParaRPr lang="en-GB" dirty="0">
              <a:latin typeface="Calibri" panose="020F050202020403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049764459"/>
              </p:ext>
            </p:extLst>
          </p:nvPr>
        </p:nvGraphicFramePr>
        <p:xfrm>
          <a:off x="913795" y="2122715"/>
          <a:ext cx="10777462" cy="4611661"/>
        </p:xfrm>
        <a:graphic>
          <a:graphicData uri="http://schemas.openxmlformats.org/drawingml/2006/table">
            <a:tbl>
              <a:tblPr firstRow="1" bandRow="1">
                <a:tableStyleId>{5C22544A-7EE6-4342-B048-85BDC9FD1C3A}</a:tableStyleId>
              </a:tblPr>
              <a:tblGrid>
                <a:gridCol w="5388731">
                  <a:extLst>
                    <a:ext uri="{9D8B030D-6E8A-4147-A177-3AD203B41FA5}">
                      <a16:colId xmlns:a16="http://schemas.microsoft.com/office/drawing/2014/main" val="20000"/>
                    </a:ext>
                  </a:extLst>
                </a:gridCol>
                <a:gridCol w="5388731">
                  <a:extLst>
                    <a:ext uri="{9D8B030D-6E8A-4147-A177-3AD203B41FA5}">
                      <a16:colId xmlns:a16="http://schemas.microsoft.com/office/drawing/2014/main" val="20001"/>
                    </a:ext>
                  </a:extLst>
                </a:gridCol>
              </a:tblGrid>
              <a:tr h="395768">
                <a:tc>
                  <a:txBody>
                    <a:bodyPr/>
                    <a:lstStyle/>
                    <a:p>
                      <a:r>
                        <a:rPr lang="en-GB" sz="2000" dirty="0">
                          <a:solidFill>
                            <a:schemeClr val="bg1"/>
                          </a:solidFill>
                          <a:latin typeface="Calibri" panose="020F0502020204030204" pitchFamily="34" charset="0"/>
                        </a:rPr>
                        <a:t>Client</a:t>
                      </a:r>
                    </a:p>
                  </a:txBody>
                  <a:tcPr/>
                </a:tc>
                <a:tc>
                  <a:txBody>
                    <a:bodyPr/>
                    <a:lstStyle/>
                    <a:p>
                      <a:r>
                        <a:rPr lang="en-GB" sz="2000" dirty="0">
                          <a:solidFill>
                            <a:schemeClr val="bg1"/>
                          </a:solidFill>
                          <a:latin typeface="Calibri" panose="020F0502020204030204" pitchFamily="34" charset="0"/>
                        </a:rPr>
                        <a:t>Users</a:t>
                      </a:r>
                    </a:p>
                  </a:txBody>
                  <a:tcPr/>
                </a:tc>
                <a:extLst>
                  <a:ext uri="{0D108BD9-81ED-4DB2-BD59-A6C34878D82A}">
                    <a16:rowId xmlns:a16="http://schemas.microsoft.com/office/drawing/2014/main" val="10000"/>
                  </a:ext>
                </a:extLst>
              </a:tr>
              <a:tr h="856089">
                <a:tc>
                  <a:txBody>
                    <a:bodyPr/>
                    <a:lstStyle/>
                    <a:p>
                      <a:r>
                        <a:rPr lang="en-GB" sz="1600" kern="1200" dirty="0">
                          <a:solidFill>
                            <a:schemeClr val="dk1"/>
                          </a:solidFill>
                          <a:latin typeface="Calibri" panose="020F0502020204030204" pitchFamily="34" charset="0"/>
                          <a:ea typeface="+mn-ea"/>
                          <a:cs typeface="+mn-cs"/>
                        </a:rPr>
                        <a:t>The client will be able to see what each patient has accessed on the platform. This insight helps them understand patient needs and preferences.</a:t>
                      </a:r>
                    </a:p>
                  </a:txBody>
                  <a:tcPr/>
                </a:tc>
                <a:tc>
                  <a:txBody>
                    <a:bodyPr/>
                    <a:lstStyle/>
                    <a:p>
                      <a:r>
                        <a:rPr lang="en-GB" sz="1600" kern="1200" dirty="0">
                          <a:solidFill>
                            <a:schemeClr val="dk1"/>
                          </a:solidFill>
                          <a:latin typeface="Calibri" panose="020F0502020204030204" pitchFamily="34" charset="0"/>
                          <a:ea typeface="+mn-ea"/>
                          <a:cs typeface="+mn-cs"/>
                        </a:rPr>
                        <a:t>Users will receive personalised health tips and advice based on their profile and specific needs, such as managing conditions like diabetes.</a:t>
                      </a:r>
                    </a:p>
                  </a:txBody>
                  <a:tcPr/>
                </a:tc>
                <a:extLst>
                  <a:ext uri="{0D108BD9-81ED-4DB2-BD59-A6C34878D82A}">
                    <a16:rowId xmlns:a16="http://schemas.microsoft.com/office/drawing/2014/main" val="10001"/>
                  </a:ext>
                </a:extLst>
              </a:tr>
              <a:tr h="892629">
                <a:tc>
                  <a:txBody>
                    <a:bodyPr/>
                    <a:lstStyle/>
                    <a:p>
                      <a:r>
                        <a:rPr lang="en-GB" sz="1600" kern="1200" dirty="0">
                          <a:solidFill>
                            <a:schemeClr val="dk1"/>
                          </a:solidFill>
                          <a:latin typeface="Calibri" panose="020F0502020204030204" pitchFamily="34" charset="0"/>
                          <a:ea typeface="+mn-ea"/>
                          <a:cs typeface="+mn-cs"/>
                        </a:rPr>
                        <a:t>With detailed information on patient interactions, the client can offer more tailored help and support, improving overall patient care.</a:t>
                      </a:r>
                    </a:p>
                  </a:txBody>
                  <a:tcPr/>
                </a:tc>
                <a:tc>
                  <a:txBody>
                    <a:bodyPr/>
                    <a:lstStyle/>
                    <a:p>
                      <a:r>
                        <a:rPr lang="en-GB" sz="1600" kern="1200" dirty="0">
                          <a:solidFill>
                            <a:schemeClr val="dk1"/>
                          </a:solidFill>
                          <a:latin typeface="Calibri" panose="020F0502020204030204" pitchFamily="34" charset="0"/>
                          <a:ea typeface="+mn-ea"/>
                          <a:cs typeface="+mn-cs"/>
                        </a:rPr>
                        <a:t>Users can easily schedule, reschedule, and cancel appointments through a user-friendly interface.</a:t>
                      </a:r>
                    </a:p>
                  </a:txBody>
                  <a:tcPr/>
                </a:tc>
                <a:extLst>
                  <a:ext uri="{0D108BD9-81ED-4DB2-BD59-A6C34878D82A}">
                    <a16:rowId xmlns:a16="http://schemas.microsoft.com/office/drawing/2014/main" val="10002"/>
                  </a:ext>
                </a:extLst>
              </a:tr>
              <a:tr h="979714">
                <a:tc>
                  <a:txBody>
                    <a:bodyPr/>
                    <a:lstStyle/>
                    <a:p>
                      <a:r>
                        <a:rPr lang="en-GB" sz="1600" kern="1200" dirty="0">
                          <a:solidFill>
                            <a:schemeClr val="dk1"/>
                          </a:solidFill>
                          <a:latin typeface="Calibri" panose="020F0502020204030204" pitchFamily="34" charset="0"/>
                          <a:ea typeface="+mn-ea"/>
                          <a:cs typeface="+mn-cs"/>
                        </a:rPr>
                        <a:t>The client can analyse usage data to identify trends and areas for improvement, helping to refine services and features.</a:t>
                      </a:r>
                    </a:p>
                  </a:txBody>
                  <a:tcPr/>
                </a:tc>
                <a:tc>
                  <a:txBody>
                    <a:bodyPr/>
                    <a:lstStyle/>
                    <a:p>
                      <a:r>
                        <a:rPr lang="en-GB" sz="1600" kern="1200" dirty="0">
                          <a:solidFill>
                            <a:schemeClr val="dk1"/>
                          </a:solidFill>
                          <a:latin typeface="Calibri" panose="020F0502020204030204" pitchFamily="34" charset="0"/>
                          <a:ea typeface="+mn-ea"/>
                          <a:cs typeface="+mn-cs"/>
                        </a:rPr>
                        <a:t>Users will benefit from a simple and user-friendly</a:t>
                      </a:r>
                      <a:r>
                        <a:rPr lang="en-GB" sz="1600" kern="1200" baseline="0" dirty="0">
                          <a:solidFill>
                            <a:schemeClr val="dk1"/>
                          </a:solidFill>
                          <a:latin typeface="Calibri" panose="020F0502020204030204" pitchFamily="34" charset="0"/>
                          <a:ea typeface="+mn-ea"/>
                          <a:cs typeface="+mn-cs"/>
                        </a:rPr>
                        <a:t> </a:t>
                      </a:r>
                      <a:r>
                        <a:rPr lang="en-GB" sz="1600" kern="1200" dirty="0">
                          <a:solidFill>
                            <a:schemeClr val="dk1"/>
                          </a:solidFill>
                          <a:latin typeface="Calibri" panose="020F0502020204030204" pitchFamily="34" charset="0"/>
                          <a:ea typeface="+mn-ea"/>
                          <a:cs typeface="+mn-cs"/>
                        </a:rPr>
                        <a:t>navigation system, making it easier to access various services and information on the platform.</a:t>
                      </a:r>
                    </a:p>
                  </a:txBody>
                  <a:tcPr/>
                </a:tc>
                <a:extLst>
                  <a:ext uri="{0D108BD9-81ED-4DB2-BD59-A6C34878D82A}">
                    <a16:rowId xmlns:a16="http://schemas.microsoft.com/office/drawing/2014/main" val="10003"/>
                  </a:ext>
                </a:extLst>
              </a:tr>
              <a:tr h="664029">
                <a:tc>
                  <a:txBody>
                    <a:bodyPr/>
                    <a:lstStyle/>
                    <a:p>
                      <a:r>
                        <a:rPr lang="en-GB" sz="1600" kern="1200" dirty="0">
                          <a:solidFill>
                            <a:schemeClr val="dk1"/>
                          </a:solidFill>
                          <a:latin typeface="Calibri" panose="020F0502020204030204" pitchFamily="34" charset="0"/>
                          <a:ea typeface="+mn-ea"/>
                          <a:cs typeface="+mn-cs"/>
                        </a:rPr>
                        <a:t>The client can send reminders and notifications to patients about appointments, health tips, or new services.</a:t>
                      </a:r>
                    </a:p>
                  </a:txBody>
                  <a:tcPr/>
                </a:tc>
                <a:tc>
                  <a:txBody>
                    <a:bodyPr/>
                    <a:lstStyle/>
                    <a:p>
                      <a:r>
                        <a:rPr lang="en-GB" sz="1600" kern="1200" dirty="0">
                          <a:solidFill>
                            <a:schemeClr val="dk1"/>
                          </a:solidFill>
                          <a:latin typeface="Calibri" panose="020F0502020204030204" pitchFamily="34" charset="0"/>
                          <a:ea typeface="+mn-ea"/>
                          <a:cs typeface="+mn-cs"/>
                        </a:rPr>
                        <a:t>Users can receive reminders and notifications about upcoming appointments, new health tips, or important health updates.</a:t>
                      </a:r>
                    </a:p>
                  </a:txBody>
                  <a:tcPr/>
                </a:tc>
                <a:extLst>
                  <a:ext uri="{0D108BD9-81ED-4DB2-BD59-A6C34878D82A}">
                    <a16:rowId xmlns:a16="http://schemas.microsoft.com/office/drawing/2014/main" val="10004"/>
                  </a:ext>
                </a:extLst>
              </a:tr>
              <a:tr h="401265">
                <a:tc>
                  <a:txBody>
                    <a:bodyPr/>
                    <a:lstStyle/>
                    <a:p>
                      <a:endParaRPr lang="en-GB" sz="1600" kern="1200" dirty="0">
                        <a:solidFill>
                          <a:schemeClr val="dk1"/>
                        </a:solidFill>
                        <a:latin typeface="Calibri" panose="020F0502020204030204" pitchFamily="34" charset="0"/>
                        <a:ea typeface="+mn-ea"/>
                        <a:cs typeface="+mn-cs"/>
                      </a:endParaRPr>
                    </a:p>
                  </a:txBody>
                  <a:tcPr/>
                </a:tc>
                <a:tc>
                  <a:txBody>
                    <a:bodyPr/>
                    <a:lstStyle/>
                    <a:p>
                      <a:r>
                        <a:rPr lang="en-GB" sz="1600" kern="1200" dirty="0">
                          <a:solidFill>
                            <a:schemeClr val="dk1"/>
                          </a:solidFill>
                          <a:latin typeface="Calibri" panose="020F0502020204030204" pitchFamily="34" charset="0"/>
                          <a:ea typeface="+mn-ea"/>
                          <a:cs typeface="+mn-cs"/>
                        </a:rPr>
                        <a:t>Users can view their health records and history, making it easier to track their health progress and share information with healthcare providers.</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762477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D4FE1632-F131-47D3-A814-99E9CD025E20}"/>
    </a:ext>
  </a:extLst>
</a:theme>
</file>

<file path=docProps/app.xml><?xml version="1.0" encoding="utf-8"?>
<Properties xmlns="http://schemas.openxmlformats.org/officeDocument/2006/extended-properties" xmlns:vt="http://schemas.openxmlformats.org/officeDocument/2006/docPropsVTypes">
  <Template>Damask</Template>
  <TotalTime>2414</TotalTime>
  <Words>1610</Words>
  <Application>Microsoft Office PowerPoint</Application>
  <PresentationFormat>Widescreen</PresentationFormat>
  <Paragraphs>117</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-apple-system</vt:lpstr>
      <vt:lpstr>Arial</vt:lpstr>
      <vt:lpstr>Bookman Old Style</vt:lpstr>
      <vt:lpstr>Calibri</vt:lpstr>
      <vt:lpstr>Rockwell</vt:lpstr>
      <vt:lpstr>Segoe UI</vt:lpstr>
      <vt:lpstr>Damask</vt:lpstr>
      <vt:lpstr>Meets the needs of the clients and users</vt:lpstr>
      <vt:lpstr>PowerPoint Presentation</vt:lpstr>
      <vt:lpstr>PowerPoint Presentation</vt:lpstr>
      <vt:lpstr>PowerPoint Presentation</vt:lpstr>
      <vt:lpstr>Key Considerations for Different User Types:</vt:lpstr>
      <vt:lpstr>Things to Look for in the Design:</vt:lpstr>
      <vt:lpstr>PowerPoint Presentation</vt:lpstr>
      <vt:lpstr>PowerPoint Presentation</vt:lpstr>
      <vt:lpstr>PowerPoint Presentation</vt:lpstr>
      <vt:lpstr>A. User survey </vt:lpstr>
      <vt:lpstr>b. Feedback</vt:lpstr>
      <vt:lpstr>C. Accessibility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 Brown</dc:creator>
  <cp:lastModifiedBy>Hem Brown</cp:lastModifiedBy>
  <cp:revision>209</cp:revision>
  <cp:lastPrinted>2024-09-18T12:38:27Z</cp:lastPrinted>
  <dcterms:created xsi:type="dcterms:W3CDTF">2023-07-11T21:34:35Z</dcterms:created>
  <dcterms:modified xsi:type="dcterms:W3CDTF">2024-11-15T12:32:35Z</dcterms:modified>
</cp:coreProperties>
</file>